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7b48ef41cc47df" /><Relationship Type="http://schemas.openxmlformats.org/officeDocument/2006/relationships/extended-properties" Target="/docProps/app.xml" Id="Rdb0bbd63b92c427f" /><Relationship Type="http://schemas.openxmlformats.org/officeDocument/2006/relationships/officeDocument" Target="/ppt/presentation.xml" Id="R319a6458305c417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10f5b323b924e3f"/>
  </p:sldMasterIdLst>
  <p:notesMasterIdLst>
    <p:notesMasterId xmlns:r="http://schemas.openxmlformats.org/officeDocument/2006/relationships" r:id="Rf1d59803f6964b44"/>
  </p:notesMasterIdLst>
  <p:sldIdLst>
    <p:sldId xmlns:r="http://schemas.openxmlformats.org/officeDocument/2006/relationships" id="256" r:id="R4104cb3233b347fe"/>
    <p:sldId xmlns:r="http://schemas.openxmlformats.org/officeDocument/2006/relationships" id="257" r:id="R47bd0c5265904010"/>
    <p:sldId xmlns:r="http://schemas.openxmlformats.org/officeDocument/2006/relationships" id="258" r:id="R5cfe86b558cf46ae"/>
    <p:sldId xmlns:r="http://schemas.openxmlformats.org/officeDocument/2006/relationships" id="259" r:id="R6dd2a08d159e4687"/>
    <p:sldId xmlns:r="http://schemas.openxmlformats.org/officeDocument/2006/relationships" id="260" r:id="R9828b47331484972"/>
    <p:sldId xmlns:r="http://schemas.openxmlformats.org/officeDocument/2006/relationships" id="261" r:id="R23a63655956343bb"/>
  </p:sldIdLst>
  <p:sldSz cx="12192000" cy="6858000"/>
  <p:notesSz cx="6858000" cy="9144000"/>
  <p:embeddedFontLst>
    <p:embeddedFont>
      <p:font typeface="Lora"/>
      <p:regular xmlns:r="http://schemas.openxmlformats.org/officeDocument/2006/relationships" r:id="R1e4fdfcbc54a4731"/>
      <p:bold xmlns:r="http://schemas.openxmlformats.org/officeDocument/2006/relationships" r:id="R6f7f6ffc4d614ee8"/>
      <p:italic xmlns:r="http://schemas.openxmlformats.org/officeDocument/2006/relationships" r:id="R9515d7c384c24de9"/>
      <p:boldItalic xmlns:r="http://schemas.openxmlformats.org/officeDocument/2006/relationships" r:id="Rdc6f5dfcc6224c0e"/>
    </p:embeddedFont>
    <p:embeddedFont>
      <p:font typeface="OpenAI Sans"/>
      <p:regular xmlns:r="http://schemas.openxmlformats.org/officeDocument/2006/relationships" r:id="R730729ea3b064b6d"/>
      <p:bold xmlns:r="http://schemas.openxmlformats.org/officeDocument/2006/relationships" r:id="R9aa0204d4730493e"/>
      <p:italic xmlns:r="http://schemas.openxmlformats.org/officeDocument/2006/relationships" r:id="Re6aa0e49204b4105"/>
      <p:boldItalic xmlns:r="http://schemas.openxmlformats.org/officeDocument/2006/relationships" r:id="R098f2fc3c9f9407e"/>
    </p:embeddedFont>
    <p:embeddedFont>
      <p:font typeface="Roboto"/>
      <p:regular xmlns:r="http://schemas.openxmlformats.org/officeDocument/2006/relationships" r:id="R99e4665d7a294287"/>
      <p:bold xmlns:r="http://schemas.openxmlformats.org/officeDocument/2006/relationships" r:id="R7c1cd92b5b8f4077"/>
      <p:italic xmlns:r="http://schemas.openxmlformats.org/officeDocument/2006/relationships" r:id="R4d55240772ff4178"/>
      <p:boldItalic xmlns:r="http://schemas.openxmlformats.org/officeDocument/2006/relationships" r:id="Rfdf820dd11af4d5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2d86eabce064101" /><Relationship Type="http://schemas.openxmlformats.org/officeDocument/2006/relationships/slideMaster" Target="/ppt/slideMasters/slideMaster1.xml" Id="R310f5b323b924e3f" /><Relationship Type="http://schemas.openxmlformats.org/officeDocument/2006/relationships/notesMaster" Target="/ppt/notesMasters/notesMaster1.xml" Id="Rf1d59803f6964b44" /><Relationship Type="http://schemas.openxmlformats.org/officeDocument/2006/relationships/presProps" Target="/ppt/presProps.xml" Id="Rfae8709e7bb540f5" /><Relationship Type="http://schemas.openxmlformats.org/officeDocument/2006/relationships/viewProps" Target="/ppt/viewProps.xml" Id="Rd43a9e037eaf4764" /><Relationship Type="http://schemas.openxmlformats.org/officeDocument/2006/relationships/tableStyles" Target="/ppt/tableStyles.xml" Id="R97485c68864240dc" /><Relationship Type="http://schemas.openxmlformats.org/officeDocument/2006/relationships/font" Target="/ppt/fonts/font.dat" Id="R1e4fdfcbc54a4731" /><Relationship Type="http://schemas.openxmlformats.org/officeDocument/2006/relationships/font" Target="/ppt/fonts/font2.dat" Id="R6f7f6ffc4d614ee8" /><Relationship Type="http://schemas.openxmlformats.org/officeDocument/2006/relationships/font" Target="/ppt/fonts/font3.dat" Id="R9515d7c384c24de9" /><Relationship Type="http://schemas.openxmlformats.org/officeDocument/2006/relationships/font" Target="/ppt/fonts/font4.dat" Id="Rdc6f5dfcc6224c0e" /><Relationship Type="http://schemas.openxmlformats.org/officeDocument/2006/relationships/font" Target="/ppt/fonts/font5.dat" Id="R730729ea3b064b6d" /><Relationship Type="http://schemas.openxmlformats.org/officeDocument/2006/relationships/font" Target="/ppt/fonts/font6.dat" Id="R9aa0204d4730493e" /><Relationship Type="http://schemas.openxmlformats.org/officeDocument/2006/relationships/font" Target="/ppt/fonts/font7.dat" Id="Re6aa0e49204b4105" /><Relationship Type="http://schemas.openxmlformats.org/officeDocument/2006/relationships/font" Target="/ppt/fonts/font8.dat" Id="R098f2fc3c9f9407e" /><Relationship Type="http://schemas.openxmlformats.org/officeDocument/2006/relationships/font" Target="/ppt/fonts/font9.dat" Id="R99e4665d7a294287" /><Relationship Type="http://schemas.openxmlformats.org/officeDocument/2006/relationships/font" Target="/ppt/fonts/font10.dat" Id="R7c1cd92b5b8f4077" /><Relationship Type="http://schemas.openxmlformats.org/officeDocument/2006/relationships/font" Target="/ppt/fonts/font11.dat" Id="R4d55240772ff4178" /><Relationship Type="http://schemas.openxmlformats.org/officeDocument/2006/relationships/font" Target="/ppt/fonts/font12.dat" Id="Rfdf820dd11af4d5c" /><Relationship Type="http://schemas.openxmlformats.org/officeDocument/2006/relationships/slide" Target="/ppt/slides/slide1.xml" Id="R4104cb3233b347fe" /><Relationship Type="http://schemas.openxmlformats.org/officeDocument/2006/relationships/slide" Target="/ppt/slides/slide2.xml" Id="R47bd0c5265904010" /><Relationship Type="http://schemas.openxmlformats.org/officeDocument/2006/relationships/slide" Target="/ppt/slides/slide3.xml" Id="R5cfe86b558cf46ae" /><Relationship Type="http://schemas.openxmlformats.org/officeDocument/2006/relationships/slide" Target="/ppt/slides/slide4.xml" Id="R6dd2a08d159e4687" /><Relationship Type="http://schemas.openxmlformats.org/officeDocument/2006/relationships/slide" Target="/ppt/slides/slide5.xml" Id="R9828b47331484972" /><Relationship Type="http://schemas.openxmlformats.org/officeDocument/2006/relationships/slide" Target="/ppt/slides/slide6.xml" Id="R23a63655956343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ef6df3c41f4c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Lora Roboto">
      <a:majorFont>
        <a:latin typeface="Lora"/>
        <a:ea typeface=""/>
        <a:cs typeface=""/>
      </a:majorFont>
      <a:minorFont>
        <a:latin typeface="Roboto"/>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4fe510a1f34793" /><Relationship Type="http://schemas.openxmlformats.org/officeDocument/2006/relationships/notesMaster" Target="/ppt/notesMasters/notesMaster1.xml" Id="R0b02049eca5e4e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84387b9aab4865" /><Relationship Type="http://schemas.openxmlformats.org/officeDocument/2006/relationships/notesMaster" Target="/ppt/notesMasters/notesMaster1.xml" Id="R2c359cea95d648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37f92dc7da46f8" /><Relationship Type="http://schemas.openxmlformats.org/officeDocument/2006/relationships/notesMaster" Target="/ppt/notesMasters/notesMaster1.xml" Id="R2187cc03260845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1ea0a388004f33" /><Relationship Type="http://schemas.openxmlformats.org/officeDocument/2006/relationships/notesMaster" Target="/ppt/notesMasters/notesMaster1.xml" Id="R2b26b0eda07247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a465d01c7640c8" /><Relationship Type="http://schemas.openxmlformats.org/officeDocument/2006/relationships/notesMaster" Target="/ppt/notesMasters/notesMaster1.xml" Id="R906fa60e1edf47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8ccf8f4a5a4970" /><Relationship Type="http://schemas.openxmlformats.org/officeDocument/2006/relationships/notesMaster" Target="/ppt/notesMasters/notesMaster1.xml" Id="R2f383bcdd6ad48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dataset audit and measured local experiment outputs, 10 September 2026. This deck presents a research prototype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project dataset audit and measured local experiment outputs, 10 September 2026. This deck presents a research prototype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project dataset audit and measured local experiment outputs, 10 September 2026. This deck presents a research prototype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project dataset audit and measured local experiment outputs, 10 September 2026. This deck presents a research prototype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project dataset audit and measured local experiment outputs, 10 September 2026. This deck presents a research prototype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project dataset audit and measured local experiment outputs, 10 September 2026. This deck presents a research prototype only.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9ef3430a424e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0c10c59be64a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28c290e9454a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999d36b3214a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94f7cea9fa45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23aff1492245e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7bc335b1c6c4cf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29cd697c9234f4e"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c168510cd44398" /><Relationship Type="http://schemas.openxmlformats.org/officeDocument/2006/relationships/slideLayout" Target="/ppt/slideLayouts/slideLayout1.xml" Id="R05dd906172f94497" /><Relationship Type="http://schemas.openxmlformats.org/officeDocument/2006/relationships/slideLayout" Target="/ppt/slideLayouts/slideLayout2.xml" Id="Rb93ce11fa31148ec" /><Relationship Type="http://schemas.openxmlformats.org/officeDocument/2006/relationships/slideLayout" Target="/ppt/slideLayouts/slideLayout3.xml" Id="R7dd38b46663e43a4" /><Relationship Type="http://schemas.openxmlformats.org/officeDocument/2006/relationships/slideLayout" Target="/ppt/slideLayouts/slideLayout4.xml" Id="Re492370b6b934f3a" /><Relationship Type="http://schemas.openxmlformats.org/officeDocument/2006/relationships/slideLayout" Target="/ppt/slideLayouts/slideLayout5.xml" Id="R353e09e3fb3143f7" /><Relationship Type="http://schemas.openxmlformats.org/officeDocument/2006/relationships/slideLayout" Target="/ppt/slideLayouts/slideLayout6.xml" Id="R88993f43aca24b04" /><Relationship Type="http://schemas.openxmlformats.org/officeDocument/2006/relationships/slideLayout" Target="/ppt/slideLayouts/slideLayout7.xml" Id="R3c9cff1ce54e412e" /><Relationship Type="http://schemas.openxmlformats.org/officeDocument/2006/relationships/slideLayout" Target="/ppt/slideLayouts/slideLayout8.xml" Id="Rd81ae793f1684b7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05dd906172f94497"/>
    <p:sldLayoutId xmlns:r="http://schemas.openxmlformats.org/officeDocument/2006/relationships" id="2147483650" r:id="Rb93ce11fa31148ec"/>
    <p:sldLayoutId xmlns:r="http://schemas.openxmlformats.org/officeDocument/2006/relationships" id="2147483651" r:id="R7dd38b46663e43a4"/>
    <p:sldLayoutId xmlns:r="http://schemas.openxmlformats.org/officeDocument/2006/relationships" id="2147483652" r:id="Re492370b6b934f3a"/>
    <p:sldLayoutId xmlns:r="http://schemas.openxmlformats.org/officeDocument/2006/relationships" id="2147483653" r:id="R353e09e3fb3143f7"/>
    <p:sldLayoutId xmlns:r="http://schemas.openxmlformats.org/officeDocument/2006/relationships" id="2147483654" r:id="R88993f43aca24b04"/>
    <p:sldLayoutId xmlns:r="http://schemas.openxmlformats.org/officeDocument/2006/relationships" id="2147483655" r:id="R3c9cff1ce54e412e"/>
    <p:sldLayoutId xmlns:r="http://schemas.openxmlformats.org/officeDocument/2006/relationships" id="2147483656" r:id="Rd81ae793f1684b71"/>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Lora Roboto">
      <a:majorFont>
        <a:latin typeface="Lora"/>
        <a:ea typeface=""/>
        <a:cs typeface=""/>
      </a:majorFont>
      <a:minorFont>
        <a:latin typeface="Roboto"/>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10af982a7f41ca" /><Relationship Type="http://schemas.openxmlformats.org/officeDocument/2006/relationships/notesSlide" Target="/ppt/notesSlides/notesSlide1.xml" Id="Rafda976d721d42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e3f6989fe64b14" /><Relationship Type="http://schemas.openxmlformats.org/officeDocument/2006/relationships/notesSlide" Target="/ppt/notesSlides/notesSlide2.xml" Id="Re76cb0789eb54d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819f7727a64eb9" /><Relationship Type="http://schemas.openxmlformats.org/officeDocument/2006/relationships/notesSlide" Target="/ppt/notesSlides/notesSlide3.xml" Id="R02594f45812643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e78371f3fa4105" /><Relationship Type="http://schemas.openxmlformats.org/officeDocument/2006/relationships/image" Target="/ppt/media/image.png" Id="R91ee93379e6a48e6" /><Relationship Type="http://schemas.openxmlformats.org/officeDocument/2006/relationships/notesSlide" Target="/ppt/notesSlides/notesSlide4.xml" Id="R14c1b806d9aa44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ffdffc0b1548e3" /><Relationship Type="http://schemas.openxmlformats.org/officeDocument/2006/relationships/notesSlide" Target="/ppt/notesSlides/notesSlide5.xml" Id="Rf072b884a0574e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d1b692e6084e35" /><Relationship Type="http://schemas.openxmlformats.org/officeDocument/2006/relationships/notesSlide" Target="/ppt/notesSlides/notesSlide6.xml" Id="R47efb4cbc55841c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564079" y="2031642"/>
            <a:ext cx="11063842" cy="2491490"/>
          </a:xfrm>
        </p:spPr>
        <p:txBody>
          <a:bodyPr xmlns:a="http://schemas.openxmlformats.org/drawingml/2006/main" anchor="ctr">
            <a:noAutofit/>
          </a:bodyPr>
          <a:lstStyle xmlns:a="http://schemas.openxmlformats.org/drawingml/2006/main"/>
          <a:p xmlns:a="http://schemas.openxmlformats.org/drawingml/2006/main">
            <a:pPr algn="ctr">
              <a:buNone/>
            </a:pPr>
            <a:r>
              <a:rPr sz="7200">
                <a:latin typeface="Lora"/>
                <a:ea typeface="Lora"/>
                <a:cs typeface="Lora"/>
              </a:rPr>
              <a:t>Deep Learning-Based</a:t>
            </a:r>
          </a:p>
          <a:p xmlns:a="http://schemas.openxmlformats.org/drawingml/2006/main">
            <a:pPr algn="ctr">
              <a:buNone/>
            </a:pPr>
            <a:r>
              <a:rPr sz="7200">
                <a:latin typeface="Lora"/>
                <a:ea typeface="Lora"/>
                <a:cs typeface="Lora"/>
              </a:rPr>
              <a:t>Chest X-Ray Classification</a:t>
            </a:r>
          </a:p>
        </p:txBody>
      </p:sp>
      <p:sp>
        <p:nvSpPr>
          <p:cNvPr id="13" name="Subtitle 12">
            <a:extLst xmlns:a="http://schemas.openxmlformats.org/drawingml/2006/main">
              <a:ext uri="{FF2B5EF4-FFF2-40B4-BE49-F238E27FC236}">
                <a16:creationId xmlns:a16="http://schemas.microsoft.com/office/drawing/2014/main" id="{8063C0C5-ECDE-60AC-E3F5-DA7ED369D661}"/>
              </a:ext>
            </a:extLst>
          </p:cNvPr>
          <p:cNvSpPr>
            <a:spLocks xmlns:a="http://schemas.openxmlformats.org/drawingml/2006/main" noGrp="1"/>
          </p:cNvSpPr>
          <p:nvPr>
            <p:ph type="subTitle" idx="1"/>
          </p:nvPr>
        </p:nvSpPr>
        <p:spPr>
          <a:xfrm xmlns:a="http://schemas.openxmlformats.org/drawingml/2006/main">
            <a:off x="2398999" y="5045149"/>
            <a:ext cx="7394002" cy="794439"/>
          </a:xfrm>
        </p:spPr>
        <p:txBody>
          <a:bodyPr xmlns:a="http://schemas.openxmlformats.org/drawingml/2006/main">
            <a:normAutofit fontScale="100000"/>
          </a:bodyPr>
          <a:lstStyle xmlns:a="http://schemas.openxmlformats.org/drawingml/2006/main"/>
          <a:p xmlns:a="http://schemas.openxmlformats.org/drawingml/2006/main">
            <a:pPr algn="ctr">
              <a:buNone/>
            </a:pPr>
            <a:r>
              <a:rPr sz="1800">
                <a:solidFill>
                  <a:schemeClr val="bg1">
                    <a:lumMod val="65000"/>
                    <a:lumOff val="35000"/>
                  </a:schemeClr>
                </a:solidFill>
              </a:rPr>
              <a:t>Phase 1 project review · 13 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244850" y="1352742"/>
            <a:ext cx="5702300" cy="36179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000">
                <a:solidFill>
                  <a:srgbClr val="FF4709"/>
                </a:solidFill>
                <a:latin typeface="Roboto"/>
                <a:ea typeface="Roboto"/>
                <a:cs typeface="Roboto"/>
              </a:rPr>
              <a:t>MEDVISION AI · Research prototype</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2026 Market Report</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rPr>
                <a:solidFill>
                  <a:schemeClr val="bg1">
                    <a:lumMod val="65000"/>
                    <a:lumOff val="35000"/>
                  </a:schemeClr>
                </a:solidFill>
              </a:rPr>
              <a:t>2</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1580202" y="1553822"/>
            <a:ext cx="9031596" cy="1262107"/>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lgn="ctr">
              <a:buNone/>
            </a:pPr>
            <a:r>
              <a:rPr sz="3600"/>
              <a:t>Problem statement and project scope</a:t>
            </a:r>
          </a:p>
        </p:txBody>
      </p:sp>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4294967295"/>
          </p:nvPr>
        </p:nvSpPr>
        <p:spPr>
          <a:xfrm xmlns:a="http://schemas.openxmlformats.org/drawingml/2006/main">
            <a:off x="2147257" y="3329711"/>
            <a:ext cx="7897486" cy="2616365"/>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ctr">
              <a:lnSpc>
                <a:spcPct val="114000"/>
              </a:lnSpc>
              <a:spcBef>
                <a:spcPts val="0"/>
              </a:spcBef>
              <a:spcAft>
                <a:spcPts val="1500"/>
              </a:spcAft>
              <a:buNone/>
            </a:pPr>
            <a:r>
              <a:rPr sz="1800"/>
              <a:t>This project evaluates deep learning for binary chest X-ray image classification: NORMAL versus PNEUMONIA. It supports educational research and model comparison. It does not diagnose patients or replace clinical judgment.</a:t>
            </a:r>
          </a:p>
        </p:txBody>
      </p:sp>
      <p:sp>
        <p:nvSpPr>
          <p:cNvPr id="3" name="Subtitle 4">
            <a:extLst xmlns:a="http://schemas.openxmlformats.org/drawingml/2006/main">
              <a:ext uri="{FF2B5EF4-FFF2-40B4-BE49-F238E27FC236}">
                <a16:creationId xmlns:a16="http://schemas.microsoft.com/office/drawing/2014/main" id="{3E4FFF9D-7D5C-DB8C-D20B-817FA574842E}"/>
              </a:ext>
            </a:extLst>
          </p:cNvPr>
          <p:cNvSpPr>
            <a:spLocks xmlns:a="http://schemas.openxmlformats.org/drawingml/2006/main" noGrp="1"/>
          </p:cNvSpPr>
          <p:nvPr/>
        </p:nvSpPr>
        <p:spPr>
          <a:xfrm xmlns:a="http://schemas.openxmlformats.org/drawingml/2006/main">
            <a:off x="3244850" y="1001877"/>
            <a:ext cx="5702300" cy="36179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000">
                <a:solidFill>
                  <a:schemeClr val="bg1">
                    <a:lumMod val="65000"/>
                    <a:lumOff val="35000"/>
                  </a:schemeClr>
                </a:solidFill>
                <a:latin typeface="Roboto"/>
                <a:ea typeface="Roboto"/>
                <a:cs typeface="Roboto"/>
              </a:rPr>
              <a:t>Project definition</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2026 Market Report</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rPr>
                <a:solidFill>
                  <a:schemeClr val="bg1">
                    <a:lumMod val="65000"/>
                    <a:lumOff val="35000"/>
                  </a:schemeClr>
                </a:solidFill>
              </a:rPr>
              <a:t>3</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531203"/>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Verified dataset: key facts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1150259"/>
            <a:ext cx="6308042" cy="139700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solidFill>
                  <a:schemeClr val="bg1">
                    <a:lumMod val="65000"/>
                    <a:lumOff val="35000"/>
                  </a:schemeClr>
                </a:solidFill>
              </a:rPr>
              <a:t>The canonical folder was selected after excluding a nested duplicate dataset copy. Every image in the selected split opened successfully during the audit.</a:t>
            </a:r>
          </a:p>
        </p:txBody>
      </p:sp>
      <p:sp>
        <p:nvSpPr>
          <p:cNvPr id="11" name="Content Placeholder 9">
            <a:extLst xmlns:a="http://schemas.openxmlformats.org/drawingml/2006/main">
              <a:ext uri="{FF2B5EF4-FFF2-40B4-BE49-F238E27FC236}">
                <a16:creationId xmlns:a16="http://schemas.microsoft.com/office/drawing/2014/main" id="{71D2425F-989C-9570-E60C-C4CFCBC5F4C1}"/>
              </a:ext>
            </a:extLst>
          </p:cNvPr>
          <p:cNvSpPr>
            <a:spLocks xmlns:a="http://schemas.openxmlformats.org/drawingml/2006/main" noGrp="1"/>
          </p:cNvSpPr>
          <p:nvPr/>
        </p:nvSpPr>
        <p:spPr>
          <a:xfrm xmlns:a="http://schemas.openxmlformats.org/drawingml/2006/main">
            <a:off x="460256" y="3933441"/>
            <a:ext cx="2653334" cy="903750"/>
          </a:xfrm>
          <a:prstGeom xmlns:a="http://schemas.openxmlformats.org/drawingml/2006/main" prst="rect">
            <a:avLst/>
          </a:prstGeom>
        </p:spPr>
        <p:txBody>
          <a:bodyPr xmlns:a="http://schemas.openxmlformats.org/drawingml/2006/main" vert="horz" lIns="0" tIns="0" rIns="0" bIns="0" anchor="b">
            <a:normAutofit fontScale="98018"/>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500" u="none" cap="none" spc="0">
                <a:ln>
                  <a:noFill/>
                </a:ln>
                <a:solidFill>
                  <a:srgbClr val="FF4305"/>
                </a:solidFill>
              </a:rPr>
              <a:t>5,856</a:t>
            </a:r>
            <a:endParaRPr sz="5500">
              <a:solidFill>
                <a:srgbClr val="FF4305"/>
              </a:solidFill>
            </a:endParaRPr>
          </a:p>
        </p:txBody>
      </p:sp>
      <p:sp>
        <p:nvSpPr>
          <p:cNvPr id="12" name="Content Placeholder 15">
            <a:extLst xmlns:a="http://schemas.openxmlformats.org/drawingml/2006/main">
              <a:ext uri="{FF2B5EF4-FFF2-40B4-BE49-F238E27FC236}">
                <a16:creationId xmlns:a16="http://schemas.microsoft.com/office/drawing/2014/main" id="{45FA8062-B7A0-A104-9AAD-F21A3F25683B}"/>
              </a:ext>
            </a:extLst>
          </p:cNvPr>
          <p:cNvSpPr>
            <a:spLocks xmlns:a="http://schemas.openxmlformats.org/drawingml/2006/main" noGrp="1"/>
          </p:cNvSpPr>
          <p:nvPr/>
        </p:nvSpPr>
        <p:spPr>
          <a:xfrm xmlns:a="http://schemas.openxmlformats.org/drawingml/2006/main">
            <a:off x="460256" y="4975635"/>
            <a:ext cx="2653334" cy="90374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JPEG images in the audited canonical dataset.</a:t>
            </a:r>
          </a:p>
        </p:txBody>
      </p:sp>
      <p:sp>
        <p:nvSpPr>
          <p:cNvPr id="15" name="Content Placeholder 9">
            <a:extLst xmlns:a="http://schemas.openxmlformats.org/drawingml/2006/main">
              <a:ext uri="{FF2B5EF4-FFF2-40B4-BE49-F238E27FC236}">
                <a16:creationId xmlns:a16="http://schemas.microsoft.com/office/drawing/2014/main" id="{D7240227-0821-E266-E2C3-115ABA62C62B}"/>
              </a:ext>
            </a:extLst>
          </p:cNvPr>
          <p:cNvSpPr>
            <a:spLocks xmlns:a="http://schemas.openxmlformats.org/drawingml/2006/main" noGrp="1"/>
          </p:cNvSpPr>
          <p:nvPr/>
        </p:nvSpPr>
        <p:spPr>
          <a:xfrm xmlns:a="http://schemas.openxmlformats.org/drawingml/2006/main">
            <a:off x="4106280" y="3933441"/>
            <a:ext cx="2653334" cy="903750"/>
          </a:xfrm>
          <a:prstGeom xmlns:a="http://schemas.openxmlformats.org/drawingml/2006/main" prst="rect">
            <a:avLst/>
          </a:prstGeom>
        </p:spPr>
        <p:txBody>
          <a:bodyPr xmlns:a="http://schemas.openxmlformats.org/drawingml/2006/main" vert="horz" lIns="0" tIns="0" rIns="0" bIns="0" anchor="b">
            <a:normAutofit fontScale="98018"/>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500" u="none" cap="none" spc="0">
                <a:ln>
                  <a:noFill/>
                </a:ln>
                <a:solidFill>
                  <a:srgbClr val="FF4305"/>
                </a:solidFill>
              </a:rPr>
              <a:t>74.29%</a:t>
            </a:r>
            <a:endParaRPr sz="5500">
              <a:solidFill>
                <a:srgbClr val="FF4305"/>
              </a:solidFill>
            </a:endParaRPr>
          </a:p>
        </p:txBody>
      </p:sp>
      <p:sp>
        <p:nvSpPr>
          <p:cNvPr id="16" name="Content Placeholder 15">
            <a:extLst xmlns:a="http://schemas.openxmlformats.org/drawingml/2006/main">
              <a:ext uri="{FF2B5EF4-FFF2-40B4-BE49-F238E27FC236}">
                <a16:creationId xmlns:a16="http://schemas.microsoft.com/office/drawing/2014/main" id="{0D91BFBF-1C92-F26C-E60C-53D2ABA18EE5}"/>
              </a:ext>
            </a:extLst>
          </p:cNvPr>
          <p:cNvSpPr>
            <a:spLocks xmlns:a="http://schemas.openxmlformats.org/drawingml/2006/main" noGrp="1"/>
          </p:cNvSpPr>
          <p:nvPr/>
        </p:nvSpPr>
        <p:spPr>
          <a:xfrm xmlns:a="http://schemas.openxmlformats.org/drawingml/2006/main">
            <a:off x="4106280" y="4975635"/>
            <a:ext cx="2653334" cy="90374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PNEUMONIA images in the training split; class weighting is used.</a:t>
            </a:r>
          </a:p>
        </p:txBody>
      </p:sp>
      <p:sp>
        <p:nvSpPr>
          <p:cNvPr id="21" name="Content Placeholder 9">
            <a:extLst xmlns:a="http://schemas.openxmlformats.org/drawingml/2006/main">
              <a:ext uri="{FF2B5EF4-FFF2-40B4-BE49-F238E27FC236}">
                <a16:creationId xmlns:a16="http://schemas.microsoft.com/office/drawing/2014/main" id="{CFE3A416-C709-ABBB-9B4C-F33DBB3046E9}"/>
              </a:ext>
            </a:extLst>
          </p:cNvPr>
          <p:cNvSpPr>
            <a:spLocks xmlns:a="http://schemas.openxmlformats.org/drawingml/2006/main" noGrp="1"/>
          </p:cNvSpPr>
          <p:nvPr/>
        </p:nvSpPr>
        <p:spPr>
          <a:xfrm xmlns:a="http://schemas.openxmlformats.org/drawingml/2006/main">
            <a:off x="7752304" y="3933441"/>
            <a:ext cx="2653334" cy="903750"/>
          </a:xfrm>
          <a:prstGeom xmlns:a="http://schemas.openxmlformats.org/drawingml/2006/main" prst="rect">
            <a:avLst/>
          </a:prstGeom>
        </p:spPr>
        <p:txBody>
          <a:bodyPr xmlns:a="http://schemas.openxmlformats.org/drawingml/2006/main" vert="horz" lIns="0" tIns="0" rIns="0" bIns="0" anchor="b">
            <a:normAutofit fontScale="98018"/>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500" u="none" cap="none" spc="0">
                <a:ln>
                  <a:noFill/>
                </a:ln>
                <a:solidFill>
                  <a:srgbClr val="FF4305"/>
                </a:solidFill>
              </a:rPr>
              <a:t>0</a:t>
            </a:r>
            <a:endParaRPr sz="5500">
              <a:solidFill>
                <a:srgbClr val="FF4305"/>
              </a:solidFill>
            </a:endParaRPr>
          </a:p>
        </p:txBody>
      </p:sp>
      <p:sp>
        <p:nvSpPr>
          <p:cNvPr id="22" name="Content Placeholder 15">
            <a:extLst xmlns:a="http://schemas.openxmlformats.org/drawingml/2006/main">
              <a:ext uri="{FF2B5EF4-FFF2-40B4-BE49-F238E27FC236}">
                <a16:creationId xmlns:a16="http://schemas.microsoft.com/office/drawing/2014/main" id="{DD9E076D-AB6A-B811-2DCD-DFF548717DE3}"/>
              </a:ext>
            </a:extLst>
          </p:cNvPr>
          <p:cNvSpPr>
            <a:spLocks xmlns:a="http://schemas.openxmlformats.org/drawingml/2006/main" noGrp="1"/>
          </p:cNvSpPr>
          <p:nvPr/>
        </p:nvSpPr>
        <p:spPr>
          <a:xfrm xmlns:a="http://schemas.openxmlformats.org/drawingml/2006/main">
            <a:off x="7752304" y="4975635"/>
            <a:ext cx="2653334" cy="90374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Unreadable images found by the complete audit.</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2026 Market Report</a:t>
            </a: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rPr>
                <a:solidFill>
                  <a:schemeClr val="bg1">
                    <a:lumMod val="65000"/>
                    <a:lumOff val="35000"/>
                  </a:schemeClr>
                </a:solidFill>
              </a:rPr>
              <a:t>4</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700" y="344008"/>
            <a:ext cx="55372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Dataset audit and sample images</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91ee93379e6a48e6"/>
          <a:srcRect xmlns:a="http://schemas.openxmlformats.org/drawingml/2006/main" l="26652" t="0" r="26652" b="0"/>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C5A7115C-83FA-26C1-A475-11085626EA00}"/>
              </a:ext>
            </a:extLst>
          </p:cNvPr>
          <p:cNvSpPr>
            <a:spLocks xmlns:a="http://schemas.openxmlformats.org/drawingml/2006/main" noGrp="1"/>
          </p:cNvSpPr>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FF4305"/>
                </a:solidFill>
              </a:rPr>
              <a:t>Audited structure</a:t>
            </a:r>
            <a:endParaRPr>
              <a:solidFill>
                <a:srgbClr val="FF4305"/>
              </a:solidFill>
            </a:endParaRPr>
          </a:p>
          <a:p xmlns:a="http://schemas.openxmlformats.org/drawingml/2006/main">
            <a:pPr marL="0" indent="0">
              <a:lnSpc>
                <a:spcPct val="114000"/>
              </a:lnSpc>
              <a:spcBef>
                <a:spcPts val="0"/>
              </a:spcBef>
              <a:spcAft>
                <a:spcPts val="800"/>
              </a:spcAft>
              <a:buFont typeface="Arial"/>
              <a:buNone/>
            </a:pPr>
            <a:r>
              <a:rPr>
                <a:solidFill>
                  <a:srgbClr val="FF4305"/>
                </a:solidFill>
              </a:rPr>
              <a:t>train: 5,216 · val: 16 · test: 624</a:t>
            </a:r>
            <a:endParaRPr>
              <a:solidFill>
                <a:srgbClr val="FF4305"/>
              </a:solidFill>
            </a:endParaRPr>
          </a:p>
        </p:txBody>
      </p:sp>
      <p:sp>
        <p:nvSpPr>
          <p:cNvPr id="3" name="TextBox 2">
            <a:extLst xmlns:a="http://schemas.openxmlformats.org/drawingml/2006/main">
              <a:ext uri="{FF2B5EF4-FFF2-40B4-BE49-F238E27FC236}">
                <a16:creationId xmlns:a16="http://schemas.microsoft.com/office/drawing/2014/main" id="{36EE50BE-D82B-E1E1-5863-AFDFAD93FEA6}"/>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The dataset contains 1,341 NORMAL and 3,875 PNEUMONIA training images. Most files are grayscale, with 283 RGB files. Thirty exact duplicate groups exist within individual splits, while no exact duplicate group crosses train, validation, or test boundaries. The supplied validation set is too small for dependable model selection, so the pipeline creates a seeded internal validation split and keeps duplicate images together.</a:t>
            </a:r>
          </a:p>
        </p:txBody>
      </p:sp>
    </p:spTree>
    <p:extLst>
      <p:ext uri="{BB962C8B-B14F-4D97-AF65-F5344CB8AC3E}">
        <p14:creationId xmlns:p14="http://schemas.microsoft.com/office/powerpoint/2010/main" val="32456707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2026 Market Report</a:t>
            </a: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rPr>
                <a:solidFill>
                  <a:schemeClr val="bg1">
                    <a:lumMod val="65000"/>
                    <a:lumOff val="35000"/>
                  </a:schemeClr>
                </a:solidFill>
              </a:rPr>
              <a:t>5</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Phase 1 implementation plan</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solidFill>
                  <a:srgbClr val="FF4305"/>
                </a:solidFill>
              </a:rPr>
              <a:t>The project uses reproducible scripts, fixed seeds, saved manifests, and a preserved test split. Every performance value will come from actual test predictions.</a:t>
            </a:r>
            <a:endParaRPr>
              <a:solidFill>
                <a:srgbClr val="FF4305"/>
              </a:solidFill>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Dataset audit complete</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Preprocessing uses tf.data rather than loading all images into memory. Images resize to 224×224 and decode to RGB for ResNet50 compatibility. Mild rotation, translation, and contrast augmentation apply only to the baseline training data. Validation and test data remain unaugmented.</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Preprocessing pipeline verified</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Baseline CNN trained and evaluated</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ResNet50 source pipeline ready</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Grad-CAM and Streamlit interface implemented</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2026 Market Report</a:t>
            </a: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rPr>
                <a:solidFill>
                  <a:schemeClr val="bg1">
                    <a:lumMod val="65000"/>
                    <a:lumOff val="35000"/>
                  </a:schemeClr>
                </a:solidFill>
              </a:rPr>
              <a:t>6</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Current model development status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solidFill>
                  <a:srgbClr val="FF4709"/>
                </a:solidFill>
              </a:rPr>
              <a:t>Baseline CNN</a:t>
            </a:r>
            <a:endParaRPr sz="1800">
              <a:solidFill>
                <a:srgbClr val="FF4709"/>
              </a:solidFill>
            </a:endParaRPr>
          </a:p>
          <a:p xmlns:a="http://schemas.openxmlformats.org/drawingml/2006/main">
            <a:pPr marL="0" indent="0">
              <a:lnSpc>
                <a:spcPct val="114000"/>
              </a:lnSpc>
              <a:spcBef>
                <a:spcPts val="0"/>
              </a:spcBef>
              <a:spcAft>
                <a:spcPts val="800"/>
              </a:spcAft>
              <a:buNone/>
            </a:pPr>
            <a:r>
              <a:rPr sz="1800"/>
              <a:t>One epoch completed on the fixed 624-image test set. Accuracy 0.625; sensitivity 1.000; specificity 0.000; ROC-AUC 0.817. It predicted PNEUMONIA for every test image at threshold 0.5.</a:t>
            </a:r>
            <a:endParaRPr sz="1800"/>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a:solidFill>
                  <a:srgbClr val="FF4709"/>
                </a:solidFill>
              </a:rPr>
              <a:t>Next review actions</a:t>
            </a:r>
          </a:p>
          <a:p xmlns:a="http://schemas.openxmlformats.org/drawingml/2006/main">
            <a:pPr marL="0" marR="0" lvl="0" indent="0">
              <a:lnSpc>
                <a:spcPct val="114000"/>
              </a:lnSpc>
              <a:spcBef>
                <a:spcPts val="0"/>
              </a:spcBef>
              <a:spcAft>
                <a:spcPts val="800"/>
              </a:spcAft>
              <a:buClrTx/>
              <a:buSzTx/>
              <a:buNone/>
            </a:pPr>
            <a:r>
              <a:rPr sz="1800"/>
              <a:t>Run frozen ResNet50 head training in Google Colab with a GPU. Evaluate on the untouched test set. Compare actual metrics, then create Grad-CAM examples from the selected model.</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97364"/>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a:solidFill>
                  <a:srgbClr val="FF4709"/>
                </a:solidFill>
              </a:rPr>
              <a:t>ResNet50</a:t>
            </a:r>
          </a:p>
          <a:p xmlns:a="http://schemas.openxmlformats.org/drawingml/2006/main">
            <a:pPr marL="0" marR="0" lvl="0" indent="0">
              <a:lnSpc>
                <a:spcPct val="114000"/>
              </a:lnSpc>
              <a:spcBef>
                <a:spcPts val="0"/>
              </a:spcBef>
              <a:spcAft>
                <a:spcPts val="800"/>
              </a:spcAft>
              <a:buClrTx/>
              <a:buSzTx/>
              <a:buNone/>
            </a:pPr>
            <a:r>
              <a:rPr sz="1800"/>
              <a:t>Frozen-base transfer-learning architecture, evaluation pipeline, prediction API, Grad-CAM module, and Streamlit interface are implemented. Local ImageNet weights and GPU training are blocked by the host environment.</a:t>
            </a:r>
          </a:p>
        </p:txBody>
      </p:sp>
      <p:sp>
        <p:nvSpPr>
          <p:cNvPr id="5" name="Google Shape;534;p58">
            <a:extLst xmlns:a="http://schemas.openxmlformats.org/drawingml/2006/main">
              <a:ext uri="{FF2B5EF4-FFF2-40B4-BE49-F238E27FC236}">
                <a16:creationId xmlns:a16="http://schemas.microsoft.com/office/drawing/2014/main" id="{54BF3B54-2B79-13E5-A49F-40DB04B8F90A}"/>
              </a:ext>
            </a:extLst>
          </p:cNvPr>
          <p:cNvSpPr>
            <a:spLocks xmlns:a="http://schemas.openxmlformats.org/drawingml/2006/main" noGrp="1"/>
          </p:cNvSpPr>
          <p:nvPr/>
        </p:nvSpPr>
        <p:spPr>
          <a:xfrm xmlns:a="http://schemas.openxmlformats.org/drawingml/2006/main">
            <a:off x="393700" y="1150259"/>
            <a:ext cx="6308042" cy="139700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solidFill>
                  <a:schemeClr val="bg1">
                    <a:lumMod val="65000"/>
                    <a:lumOff val="35000"/>
                  </a:schemeClr>
                </a:solidFill>
              </a:rPr>
              <a:t>The first baseline measurement is intentionally reported with its limitation. A single CPU-only epoch produced an unacceptable default-threshold classifier, so additional GPU training is the priority before any prototype model is selected.</a:t>
            </a:r>
          </a:p>
        </p:txBody>
      </p:sp>
    </p:spTree>
    <p:extLst>
      <p:ext uri="{BB962C8B-B14F-4D97-AF65-F5344CB8AC3E}">
        <p14:creationId xmlns:p14="http://schemas.microsoft.com/office/powerpoint/2010/main" val="1393456992"/>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Lora Roboto">
      <a:majorFont>
        <a:latin typeface="Lora"/>
        <a:ea typeface=""/>
        <a:cs typeface=""/>
      </a:majorFont>
      <a:minorFont>
        <a:latin typeface="Roboto"/>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2026-09-10T05:40:18.4750000Z</dcterms:created>
  <dcterms:modified xsi:type="dcterms:W3CDTF">2026-09-10T05:40:18.4750000Z</dcterms:modified>
</coreProperties>
</file>